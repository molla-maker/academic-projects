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2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82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745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92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750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5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50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57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14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398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09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369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BBE652-3C19-47AC-B66A-6D1B0DB6271F}" type="datetimeFigureOut">
              <a:rPr lang="ru-RU" smtClean="0"/>
              <a:t>05.06.2024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79E8AAB-32DB-4FEC-B32B-4841B2E8DE95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78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585FB5-C916-4377-B1EE-3E8E0FAA9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pPr algn="ctr"/>
            <a:r>
              <a:rPr lang="ru-RU" dirty="0"/>
              <a:t>Курсовая работа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1DBAFF-A82C-454F-BFBF-08EED41C5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5549" y="5452532"/>
            <a:ext cx="2776451" cy="874221"/>
          </a:xfrm>
        </p:spPr>
        <p:txBody>
          <a:bodyPr>
            <a:normAutofit/>
          </a:bodyPr>
          <a:lstStyle/>
          <a:p>
            <a:pPr algn="r"/>
            <a:r>
              <a:rPr lang="ru-RU" sz="1800" dirty="0"/>
              <a:t>Зайцева Инга </a:t>
            </a:r>
          </a:p>
          <a:p>
            <a:pPr algn="r"/>
            <a:r>
              <a:rPr lang="ru-RU" sz="1800" dirty="0"/>
              <a:t>гр. 231-324</a:t>
            </a:r>
          </a:p>
        </p:txBody>
      </p:sp>
    </p:spTree>
    <p:extLst>
      <p:ext uri="{BB962C8B-B14F-4D97-AF65-F5344CB8AC3E}">
        <p14:creationId xmlns:p14="http://schemas.microsoft.com/office/powerpoint/2010/main" val="572065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ADFB29-FF4B-4F78-A6FE-B51A69BF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71AA7-5045-4CA1-A99F-593FECBE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64267"/>
            <a:ext cx="10058400" cy="3903133"/>
          </a:xfrm>
        </p:spPr>
        <p:txBody>
          <a:bodyPr>
            <a:noAutofit/>
          </a:bodyPr>
          <a:lstStyle/>
          <a:p>
            <a:r>
              <a:rPr lang="ru-RU" sz="1800" b="1" dirty="0"/>
              <a:t>Данную работу можно разделить на несколько этапов:</a:t>
            </a:r>
            <a:endParaRPr lang="ru-RU" sz="1800" dirty="0"/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Структурный анализ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Построение подвижной </a:t>
            </a:r>
            <a:r>
              <a:rPr lang="en-US" sz="1800" dirty="0"/>
              <a:t>2d </a:t>
            </a:r>
            <a:r>
              <a:rPr lang="ru-RU" sz="1800" dirty="0"/>
              <a:t>модели механизма и его крайних положений в </a:t>
            </a:r>
            <a:r>
              <a:rPr lang="en-US" sz="1800" dirty="0"/>
              <a:t>T-Flex</a:t>
            </a:r>
            <a:r>
              <a:rPr lang="ru-RU" sz="18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Построение плана скоростей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Построение плана ускорений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Силовой анализ механизма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Построение рычага Жуковского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Расчет зубчатой передачи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Подбор двигателя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Построение 3</a:t>
            </a:r>
            <a:r>
              <a:rPr lang="en-US" sz="1800" dirty="0"/>
              <a:t>d </a:t>
            </a:r>
            <a:r>
              <a:rPr lang="ru-RU" sz="1800" dirty="0"/>
              <a:t>модели механизма</a:t>
            </a:r>
          </a:p>
        </p:txBody>
      </p:sp>
    </p:spTree>
    <p:extLst>
      <p:ext uri="{BB962C8B-B14F-4D97-AF65-F5344CB8AC3E}">
        <p14:creationId xmlns:p14="http://schemas.microsoft.com/office/powerpoint/2010/main" val="30116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E7A13-8BFE-4C0B-82E1-F06F3E6F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1797"/>
            <a:ext cx="3200400" cy="1437641"/>
          </a:xfrm>
        </p:spPr>
        <p:txBody>
          <a:bodyPr>
            <a:normAutofit/>
          </a:bodyPr>
          <a:lstStyle/>
          <a:p>
            <a:pPr algn="ctr"/>
            <a:r>
              <a:rPr lang="ru-RU" sz="3100" dirty="0"/>
              <a:t>Структурный анализ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C5E7BD-5950-4745-9952-2557B9ED1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4141" y="1506339"/>
            <a:ext cx="3200400" cy="974394"/>
          </a:xfrm>
        </p:spPr>
        <p:txBody>
          <a:bodyPr>
            <a:normAutofit/>
          </a:bodyPr>
          <a:lstStyle/>
          <a:p>
            <a:r>
              <a:rPr lang="ru-RU" sz="1800" dirty="0"/>
              <a:t>Сначала был проведен структурный анализ механизма.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864809-4BCE-47A3-9904-5DBA7D4F3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41" y="2821871"/>
            <a:ext cx="3106518" cy="3734332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01777EC0-E07D-4CE5-BCD1-CF1FD4DCB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61749"/>
          <a:stretch/>
        </p:blipFill>
        <p:spPr>
          <a:xfrm>
            <a:off x="6654127" y="304609"/>
            <a:ext cx="3480471" cy="655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74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F7365-A36A-4607-B421-D709AA693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99" y="163329"/>
            <a:ext cx="3708399" cy="22860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100" dirty="0"/>
              <a:t>Построение подвижной </a:t>
            </a:r>
            <a:r>
              <a:rPr lang="en-US" sz="3100" dirty="0"/>
              <a:t>2d </a:t>
            </a:r>
            <a:r>
              <a:rPr lang="ru-RU" sz="3100" dirty="0"/>
              <a:t>модели механизма и его крайних положений в </a:t>
            </a:r>
            <a:r>
              <a:rPr lang="en-US" sz="3100" dirty="0"/>
              <a:t>T-Flex</a:t>
            </a:r>
            <a:r>
              <a:rPr lang="ru-RU" sz="31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E13D17-7CBF-4880-98BA-AA95F8634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799" y="2548467"/>
            <a:ext cx="3708399" cy="4309534"/>
          </a:xfrm>
        </p:spPr>
        <p:txBody>
          <a:bodyPr>
            <a:normAutofit/>
          </a:bodyPr>
          <a:lstStyle/>
          <a:p>
            <a:r>
              <a:rPr lang="ru-RU" sz="1800" dirty="0"/>
              <a:t>На основе схемы механизма, данных о длинах звеньев и расстояниях между стойками была построена модель механизма. Так как определить крайние положения в данном конкретном механизме аналитическим методом не представлялось возможным, они были определены визуально с высокой степенью точности по положению ползуна.</a:t>
            </a:r>
            <a:endParaRPr lang="ru-RU" sz="2000" dirty="0"/>
          </a:p>
          <a:p>
            <a:endParaRPr lang="ru-RU" sz="2000" dirty="0"/>
          </a:p>
          <a:p>
            <a:r>
              <a:rPr lang="ru-RU" sz="1600" dirty="0"/>
              <a:t>* Крайние положения отмечены красным и синим цветами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BAFDEFB-7476-42F1-A439-7D65E5381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489" y="104171"/>
            <a:ext cx="5621027" cy="6649657"/>
          </a:xfr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815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A8DCB-8A9B-4B36-9E44-B8F018970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333" y="258567"/>
            <a:ext cx="3200400" cy="1022774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Построение плана скоростей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C9FFB0-F0AE-4D6A-842F-899C0EC46A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8799" y="1911635"/>
                <a:ext cx="2523067" cy="1517365"/>
              </a:xfrm>
            </p:spPr>
            <p:txBody>
              <a:bodyPr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𝐴𝐵</m:t>
                                </m:r>
                              </m:den>
                            </m:f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𝐵𝐶</m:t>
                                </m:r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den>
                            </m:f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𝐶𝐷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0C9FFB0-F0AE-4D6A-842F-899C0EC46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8799" y="1911635"/>
                <a:ext cx="2523067" cy="151736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Текст 3">
            <a:extLst>
              <a:ext uri="{FF2B5EF4-FFF2-40B4-BE49-F238E27FC236}">
                <a16:creationId xmlns:a16="http://schemas.microsoft.com/office/drawing/2014/main" id="{A7847C96-2091-4622-A8D9-98CA37545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66" y="2168698"/>
            <a:ext cx="4030133" cy="2520603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/>
              <a:t>Основываясь на данных о структурных группах механизма, была составлена система уравнений, каждый элемент которой обозначал определенный вектор скорости и его направление.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На основе уравнения и данных из модели механизма был построен план скоростей.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3D018B13-61ED-4DC4-819D-051A531FF946}"/>
                  </a:ext>
                </a:extLst>
              </p:cNvPr>
              <p:cNvSpPr/>
              <p:nvPr/>
            </p:nvSpPr>
            <p:spPr>
              <a:xfrm>
                <a:off x="4335704" y="3429000"/>
                <a:ext cx="2521524" cy="13408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45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24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𝐾𝐶</m:t>
                                  </m:r>
                                </m:den>
                              </m:f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45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24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𝐸𝐾</m:t>
                                  </m:r>
                                </m:den>
                              </m:f>
                            </m:e>
                            <m:e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45</m:t>
                                  </m:r>
                                </m:sub>
                              </m:sSub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den>
                              </m:f>
                              <m:r>
                                <a:rPr lang="ru-RU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45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ru-RU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‖ стойке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3D018B13-61ED-4DC4-819D-051A531FF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704" y="3429000"/>
                <a:ext cx="2521524" cy="13408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9CB27A-AB95-4EAD-97D9-B65BAB9AC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2066" y="1345454"/>
            <a:ext cx="4453467" cy="4167089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98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3A55C-080A-49E8-A5A0-E2746BDD1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6" y="374227"/>
            <a:ext cx="3200400" cy="913428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Построение плана ускорений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8A06EF-9486-43A8-A586-EF838B11A6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06334" y="2080260"/>
                <a:ext cx="3310467" cy="269748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‖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‖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𝐵𝐶</m:t>
                                </m:r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‖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𝐶𝐷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𝐶𝐷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45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24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‖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𝐾𝐶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45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24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𝑛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‖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𝐸𝐾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45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24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⊥</m:t>
                                </m:r>
                                <m: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𝐸𝐾</m:t>
                                </m:r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45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45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кор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45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отн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‖ 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стойке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ru-RU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8A06EF-9486-43A8-A586-EF838B11A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06334" y="2080260"/>
                <a:ext cx="3310467" cy="2697480"/>
              </a:xfrm>
              <a:blipFill>
                <a:blip r:embed="rId2"/>
                <a:stretch>
                  <a:fillRect t="-4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Текст 3">
            <a:extLst>
              <a:ext uri="{FF2B5EF4-FFF2-40B4-BE49-F238E27FC236}">
                <a16:creationId xmlns:a16="http://schemas.microsoft.com/office/drawing/2014/main" id="{5FD2380D-F3D7-4E06-91FE-505E5FDD9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739438"/>
            <a:ext cx="4030133" cy="337912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800" dirty="0"/>
              <a:t>Основываясь на данных о структурных группах механизма, была составлена система уравнений, каждый элемент которой обозначал определенный вектор ускорения и его направление.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Произведены дополнительные вычисления, чтобы однозначно определить план ускорений.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/>
              <a:t>На основе уравнения, вычислений и данных из модели механизма был построен план ускорений.</a:t>
            </a:r>
          </a:p>
          <a:p>
            <a:pPr marL="342900" indent="-342900">
              <a:buFont typeface="+mj-lt"/>
              <a:buAutoNum type="arabicPeriod"/>
            </a:pPr>
            <a:endParaRPr lang="ru-RU" sz="1600" dirty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35D5791-FFA9-4090-9CCF-C4BD76871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534" y="314325"/>
            <a:ext cx="4038600" cy="6229350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063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A69C5E-5263-4063-92ED-254A04C53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28888"/>
            <a:ext cx="3200400" cy="981522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Силовой анализ механизма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260197A-8AF7-424E-BD15-8C04F7BC3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8705" y="434181"/>
            <a:ext cx="5422572" cy="5989638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AB5BF627-D1D7-4B7C-85D0-765C20B68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На основе плана скоростей и ускорений, данных о массе звеньев и положениях центров масс были отмечены силы на 2</a:t>
            </a:r>
            <a:r>
              <a:rPr lang="en-US" sz="1800" dirty="0"/>
              <a:t>d </a:t>
            </a:r>
            <a:r>
              <a:rPr lang="ru-RU" sz="1800" dirty="0"/>
              <a:t>модели механизма.</a:t>
            </a:r>
          </a:p>
        </p:txBody>
      </p:sp>
    </p:spTree>
    <p:extLst>
      <p:ext uri="{BB962C8B-B14F-4D97-AF65-F5344CB8AC3E}">
        <p14:creationId xmlns:p14="http://schemas.microsoft.com/office/powerpoint/2010/main" val="253987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393328-E7E1-450A-9B62-EB7F016E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3505"/>
            <a:ext cx="3200400" cy="952339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Построение рычага Жуковского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DD565F-44D8-4E5C-A258-7DE7515C0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7848" y="731838"/>
            <a:ext cx="5078379" cy="5257800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C2214171-A97A-4265-95C0-CED1AE1E9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Основываясь на силовом анализе механизма, путем поворота плана скоростей на 90 градусов против направления вращения был построен рычаг Жуковского.</a:t>
            </a:r>
          </a:p>
        </p:txBody>
      </p:sp>
    </p:spTree>
    <p:extLst>
      <p:ext uri="{BB962C8B-B14F-4D97-AF65-F5344CB8AC3E}">
        <p14:creationId xmlns:p14="http://schemas.microsoft.com/office/powerpoint/2010/main" val="249163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9A53A-6DBE-44A5-9407-4C7BAA5E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882"/>
            <a:ext cx="3200400" cy="971974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Расчет зубчатой передачи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8E5345-4689-4B7A-B185-82224AB14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4753" y="300038"/>
            <a:ext cx="4316380" cy="3815662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1BE49BFB-B983-45CD-A793-0AD43161B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8743"/>
            <a:ext cx="3200400" cy="1366957"/>
          </a:xfrm>
        </p:spPr>
        <p:txBody>
          <a:bodyPr>
            <a:normAutofit/>
          </a:bodyPr>
          <a:lstStyle/>
          <a:p>
            <a:r>
              <a:rPr lang="ru-RU" sz="1800" dirty="0"/>
              <a:t>Основываясь на данных о количестве зубьев </a:t>
            </a:r>
            <a:r>
              <a:rPr lang="en-US" sz="1800" dirty="0"/>
              <a:t>z1 </a:t>
            </a:r>
            <a:r>
              <a:rPr lang="ru-RU" sz="1800" dirty="0"/>
              <a:t>и </a:t>
            </a:r>
            <a:r>
              <a:rPr lang="en-US" sz="1800" dirty="0"/>
              <a:t>z2 </a:t>
            </a:r>
            <a:r>
              <a:rPr lang="ru-RU" sz="1800" dirty="0"/>
              <a:t>и частоты вращения двигателя и кривошипа был произведен расчет зубчатой передачи.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3EDF4A-4CD1-472B-989D-DD6370264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123" y="1955640"/>
            <a:ext cx="7537453" cy="4809227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AF8AD17-7C8A-4F81-A520-B71A03E340FB}"/>
              </a:ext>
            </a:extLst>
          </p:cNvPr>
          <p:cNvSpPr/>
          <p:nvPr/>
        </p:nvSpPr>
        <p:spPr>
          <a:xfrm>
            <a:off x="6444753" y="3954920"/>
            <a:ext cx="228123" cy="16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FBDF19-F2AA-40D4-ABA6-AB849CACA71B}"/>
              </a:ext>
            </a:extLst>
          </p:cNvPr>
          <p:cNvSpPr/>
          <p:nvPr/>
        </p:nvSpPr>
        <p:spPr>
          <a:xfrm>
            <a:off x="9008533" y="872067"/>
            <a:ext cx="668867" cy="220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854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5998C-1DB4-4B55-85D9-440C61410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9017"/>
            <a:ext cx="3200400" cy="607908"/>
          </a:xfrm>
        </p:spPr>
        <p:txBody>
          <a:bodyPr>
            <a:normAutofit/>
          </a:bodyPr>
          <a:lstStyle/>
          <a:p>
            <a:r>
              <a:rPr lang="ru-RU" sz="2800" dirty="0"/>
              <a:t>Подбор двигателя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44B64DB-17EF-4FEE-969D-09AF9DE4D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1496" y="3873436"/>
            <a:ext cx="2091807" cy="2084765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6A71A1E0-28DB-49FD-81AF-99AEC18A3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1361872"/>
            <a:ext cx="3200400" cy="5496128"/>
          </a:xfrm>
        </p:spPr>
        <p:txBody>
          <a:bodyPr>
            <a:normAutofit/>
          </a:bodyPr>
          <a:lstStyle/>
          <a:p>
            <a:r>
              <a:rPr lang="ru-RU" sz="1800" dirty="0"/>
              <a:t>На основе данных о габаритах и частоте двигателя был подобран следующий двигатель:</a:t>
            </a:r>
          </a:p>
          <a:p>
            <a:r>
              <a:rPr lang="ru-RU" sz="1800" b="1" dirty="0"/>
              <a:t>Электродвигатель Д-22 8 кВт 1200 об/мин 220 В последовательного возбуждения</a:t>
            </a:r>
          </a:p>
          <a:p>
            <a:endParaRPr lang="ru-RU" sz="1800" b="1" dirty="0"/>
          </a:p>
          <a:p>
            <a:endParaRPr lang="ru-RU" sz="1800" b="1" dirty="0"/>
          </a:p>
          <a:p>
            <a:endParaRPr lang="ru-RU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ru-RU" sz="1800" b="1" dirty="0"/>
          </a:p>
          <a:p>
            <a:r>
              <a:rPr lang="ru-RU" sz="1600" dirty="0"/>
              <a:t>*стоимость 404 950 руб.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FAE326B-9554-4BF0-9143-761AA6192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020618"/>
              </p:ext>
            </p:extLst>
          </p:nvPr>
        </p:nvGraphicFramePr>
        <p:xfrm>
          <a:off x="4585802" y="809921"/>
          <a:ext cx="7148998" cy="5702296"/>
        </p:xfrm>
        <a:graphic>
          <a:graphicData uri="http://schemas.openxmlformats.org/drawingml/2006/table">
            <a:tbl>
              <a:tblPr/>
              <a:tblGrid>
                <a:gridCol w="4321960">
                  <a:extLst>
                    <a:ext uri="{9D8B030D-6E8A-4147-A177-3AD203B41FA5}">
                      <a16:colId xmlns:a16="http://schemas.microsoft.com/office/drawing/2014/main" val="582992957"/>
                    </a:ext>
                  </a:extLst>
                </a:gridCol>
                <a:gridCol w="2827038">
                  <a:extLst>
                    <a:ext uri="{9D8B030D-6E8A-4147-A177-3AD203B41FA5}">
                      <a16:colId xmlns:a16="http://schemas.microsoft.com/office/drawing/2014/main" val="2823794418"/>
                    </a:ext>
                  </a:extLst>
                </a:gridCol>
              </a:tblGrid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Тип двигателя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</a:rPr>
                        <a:t>Д 22 *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885113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Исполнение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Быстроходное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27302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Напряжение, В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220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337532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Высота оси вращения, мм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180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818228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Возбуждение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Последовательное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33452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Мощность, кВт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8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153239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Ток, А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46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700619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Частота вращения, об/мин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1200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783608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Максимальная допускаемая частота вращения, об/мин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3600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218140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Динамический момент инерции якоря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0,155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248629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Количество охлаждающего воздуха, м</a:t>
                      </a:r>
                      <a:r>
                        <a:rPr lang="ru-RU" sz="1600" baseline="30000">
                          <a:effectLst/>
                        </a:rPr>
                        <a:t>3</a:t>
                      </a:r>
                      <a:r>
                        <a:rPr lang="ru-RU" sz="1600">
                          <a:effectLst/>
                        </a:rPr>
                        <a:t>/мин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4,5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139476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Статический напор, </a:t>
                      </a:r>
                      <a:r>
                        <a:rPr lang="ru-RU" sz="1600" dirty="0" err="1">
                          <a:effectLst/>
                        </a:rPr>
                        <a:t>мм.вод.ст</a:t>
                      </a:r>
                      <a:r>
                        <a:rPr lang="ru-RU" sz="1600" dirty="0">
                          <a:effectLst/>
                        </a:rPr>
                        <a:t>. (Па)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20(196)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791954"/>
                  </a:ext>
                </a:extLst>
              </a:tr>
              <a:tr h="36953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Максимальный вращающий момент, Н*м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>
                          <a:effectLst/>
                        </a:rPr>
                        <a:t>255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828776"/>
                  </a:ext>
                </a:extLst>
              </a:tr>
              <a:tr h="69219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Масса двигателя горизонтального исполнения с 2 концами вала, параллельного возбуждения, кг, не более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225</a:t>
                      </a:r>
                    </a:p>
                  </a:txBody>
                  <a:tcPr marL="60877" marR="60877" marT="12175" marB="12175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72103"/>
                  </a:ext>
                </a:extLst>
              </a:tr>
            </a:tbl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57940AA-BF28-4CC0-813C-F914B0034D82}"/>
              </a:ext>
            </a:extLst>
          </p:cNvPr>
          <p:cNvSpPr/>
          <p:nvPr/>
        </p:nvSpPr>
        <p:spPr>
          <a:xfrm>
            <a:off x="6697110" y="243639"/>
            <a:ext cx="32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Технические характеристики</a:t>
            </a:r>
          </a:p>
        </p:txBody>
      </p:sp>
    </p:spTree>
    <p:extLst>
      <p:ext uri="{BB962C8B-B14F-4D97-AF65-F5344CB8AC3E}">
        <p14:creationId xmlns:p14="http://schemas.microsoft.com/office/powerpoint/2010/main" val="451391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188F1-5C49-4E70-8EB0-F375D7EE7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8826"/>
            <a:ext cx="3200400" cy="981522"/>
          </a:xfrm>
        </p:spPr>
        <p:txBody>
          <a:bodyPr>
            <a:normAutofit/>
          </a:bodyPr>
          <a:lstStyle/>
          <a:p>
            <a:pPr algn="ctr"/>
            <a:r>
              <a:rPr lang="ru-RU" sz="2800" dirty="0"/>
              <a:t>Построение 3</a:t>
            </a:r>
            <a:r>
              <a:rPr lang="en-US" sz="2800" dirty="0"/>
              <a:t>d </a:t>
            </a:r>
            <a:r>
              <a:rPr lang="ru-RU" sz="2800" dirty="0"/>
              <a:t>модели механизма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D5BF1D3-C03D-42DD-BAB9-A1C28C09B2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9437" y="408826"/>
            <a:ext cx="6403286" cy="6040347"/>
          </a:xfrm>
          <a:prstGeom prst="rect">
            <a:avLst/>
          </a:prstGeom>
          <a:effectLst>
            <a:outerShdw sx="103000" sy="103000" algn="ctr" rotWithShape="0">
              <a:schemeClr val="bg2">
                <a:lumMod val="90000"/>
              </a:schemeClr>
            </a:outerShdw>
          </a:effectLst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4DF87EF-1822-4525-A356-DCCE7EC57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52927"/>
            <a:ext cx="3200400" cy="1352144"/>
          </a:xfrm>
        </p:spPr>
        <p:txBody>
          <a:bodyPr>
            <a:normAutofit/>
          </a:bodyPr>
          <a:lstStyle/>
          <a:p>
            <a:r>
              <a:rPr lang="ru-RU" sz="1800" dirty="0"/>
              <a:t>Основываясь на рассчитанных ранее параметрах сборки была построена 3</a:t>
            </a:r>
            <a:r>
              <a:rPr lang="en-US" sz="1800" dirty="0"/>
              <a:t>d </a:t>
            </a:r>
            <a:r>
              <a:rPr lang="ru-RU" sz="1800" dirty="0"/>
              <a:t>модель механизма с двигателем и зубчатой передачей.</a:t>
            </a:r>
          </a:p>
        </p:txBody>
      </p:sp>
    </p:spTree>
    <p:extLst>
      <p:ext uri="{BB962C8B-B14F-4D97-AF65-F5344CB8AC3E}">
        <p14:creationId xmlns:p14="http://schemas.microsoft.com/office/powerpoint/2010/main" val="344323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FF4F3-10ED-46A1-8D63-A6BDCC28D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ru-RU" dirty="0"/>
              <a:t>Список сил, действующих на механизм, рассчитанных в результате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A547F-B0F7-4895-8C4C-5D4269ED1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5414" y="2723534"/>
            <a:ext cx="5522780" cy="2693275"/>
          </a:xfrm>
        </p:spPr>
        <p:txBody>
          <a:bodyPr>
            <a:normAutofit/>
          </a:bodyPr>
          <a:lstStyle/>
          <a:p>
            <a:r>
              <a:rPr lang="en-US" dirty="0"/>
              <a:t>G</a:t>
            </a:r>
            <a:r>
              <a:rPr lang="ru-RU" dirty="0"/>
              <a:t>2</a:t>
            </a:r>
            <a:r>
              <a:rPr lang="en-US" dirty="0"/>
              <a:t> = 120.62 </a:t>
            </a:r>
            <a:r>
              <a:rPr lang="ru-RU" dirty="0"/>
              <a:t>Н	</a:t>
            </a:r>
            <a:r>
              <a:rPr lang="en-US" dirty="0"/>
              <a:t>	F</a:t>
            </a:r>
            <a:r>
              <a:rPr lang="ru-RU" dirty="0"/>
              <a:t>ин2 </a:t>
            </a:r>
            <a:r>
              <a:rPr lang="en-US" dirty="0"/>
              <a:t>=</a:t>
            </a:r>
            <a:r>
              <a:rPr lang="ru-RU" dirty="0"/>
              <a:t>0.2</a:t>
            </a:r>
            <a:r>
              <a:rPr lang="en-US" dirty="0"/>
              <a:t> </a:t>
            </a:r>
            <a:r>
              <a:rPr lang="ru-RU" dirty="0"/>
              <a:t>кг*м</a:t>
            </a:r>
            <a:r>
              <a:rPr lang="en-US" dirty="0"/>
              <a:t>^2 </a:t>
            </a:r>
            <a:r>
              <a:rPr lang="ru-RU" dirty="0"/>
              <a:t>	</a:t>
            </a:r>
          </a:p>
          <a:p>
            <a:r>
              <a:rPr lang="en-US" dirty="0"/>
              <a:t>G4 = 73.55 </a:t>
            </a:r>
            <a:r>
              <a:rPr lang="ru-RU" dirty="0"/>
              <a:t>Н	</a:t>
            </a:r>
            <a:r>
              <a:rPr lang="en-US" dirty="0"/>
              <a:t>	F</a:t>
            </a:r>
            <a:r>
              <a:rPr lang="ru-RU" dirty="0"/>
              <a:t>ин4 = 0.14 кг*м</a:t>
            </a:r>
            <a:r>
              <a:rPr lang="en-US" dirty="0"/>
              <a:t>^2 </a:t>
            </a:r>
            <a:r>
              <a:rPr lang="ru-RU" dirty="0"/>
              <a:t>	</a:t>
            </a:r>
          </a:p>
          <a:p>
            <a:r>
              <a:rPr lang="en-US" dirty="0"/>
              <a:t>G5 = 735.5</a:t>
            </a:r>
            <a:r>
              <a:rPr lang="ru-RU" dirty="0"/>
              <a:t> Н		</a:t>
            </a:r>
            <a:r>
              <a:rPr lang="en-US" dirty="0"/>
              <a:t>F</a:t>
            </a:r>
            <a:r>
              <a:rPr lang="ru-RU" dirty="0"/>
              <a:t>ин5 = 0.16 кг*м</a:t>
            </a:r>
            <a:r>
              <a:rPr lang="en-US" dirty="0"/>
              <a:t>^2 </a:t>
            </a:r>
            <a:endParaRPr lang="ru-RU" dirty="0"/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01933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439</TotalTime>
  <Words>464</Words>
  <Application>Microsoft Office PowerPoint</Application>
  <PresentationFormat>Широкоэкранный</PresentationFormat>
  <Paragraphs>82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Calibri</vt:lpstr>
      <vt:lpstr>Calibri Light</vt:lpstr>
      <vt:lpstr>Cambria Math</vt:lpstr>
      <vt:lpstr>Times New Roman</vt:lpstr>
      <vt:lpstr>Ретро</vt:lpstr>
      <vt:lpstr>Курсовая работа</vt:lpstr>
      <vt:lpstr>Этапы</vt:lpstr>
      <vt:lpstr>Структурный анализ </vt:lpstr>
      <vt:lpstr>Построение подвижной 2d модели механизма и его крайних положений в T-Flex  </vt:lpstr>
      <vt:lpstr>Построение плана скоростей </vt:lpstr>
      <vt:lpstr>Построение плана ускорений</vt:lpstr>
      <vt:lpstr>Силовой анализ механизма</vt:lpstr>
      <vt:lpstr>Построение рычага Жуковского</vt:lpstr>
      <vt:lpstr>Расчет зубчатой передачи</vt:lpstr>
      <vt:lpstr>Подбор двигателя</vt:lpstr>
      <vt:lpstr>Построение 3d модели механизма</vt:lpstr>
      <vt:lpstr>Список сил, действующих на механизм, рассчитанных в результате работы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User</dc:creator>
  <cp:lastModifiedBy>User</cp:lastModifiedBy>
  <cp:revision>66</cp:revision>
  <dcterms:created xsi:type="dcterms:W3CDTF">2024-06-02T14:34:12Z</dcterms:created>
  <dcterms:modified xsi:type="dcterms:W3CDTF">2024-06-05T09:28:28Z</dcterms:modified>
</cp:coreProperties>
</file>